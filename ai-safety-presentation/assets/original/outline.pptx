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69" r:id="rId5"/>
    <p:sldId id="268" r:id="rId6"/>
    <p:sldId id="275" r:id="rId7"/>
    <p:sldId id="267" r:id="rId8"/>
    <p:sldId id="272" r:id="rId9"/>
    <p:sldId id="280" r:id="rId10"/>
    <p:sldId id="266" r:id="rId11"/>
    <p:sldId id="281" r:id="rId12"/>
    <p:sldId id="259" r:id="rId13"/>
    <p:sldId id="277" r:id="rId14"/>
    <p:sldId id="258" r:id="rId15"/>
    <p:sldId id="278" r:id="rId16"/>
    <p:sldId id="273" r:id="rId17"/>
    <p:sldId id="279" r:id="rId18"/>
    <p:sldId id="260" r:id="rId19"/>
    <p:sldId id="261" r:id="rId20"/>
    <p:sldId id="276" r:id="rId21"/>
    <p:sldId id="274" r:id="rId22"/>
    <p:sldId id="262" r:id="rId23"/>
    <p:sldId id="263" r:id="rId24"/>
    <p:sldId id="270" r:id="rId25"/>
    <p:sldId id="271" r:id="rId26"/>
    <p:sldId id="264" r:id="rId27"/>
    <p:sldId id="265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4424C-3638-4177-2474-275F0817F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E7D09-C409-122B-4210-341F88CA21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1C2C5-A91F-9429-138C-533E79B8E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B7846-8025-48FE-5A8E-AF0ECC16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E8356-3655-23C0-2305-17655B293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16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42FAF-3860-7EAE-C3FD-761ECCEC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EB520-F8C0-40E1-529C-A4741146C2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77324-3C8A-C091-A339-10177C53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44936-9C48-8913-21ED-678705ABC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7111F-E397-4FCB-9A27-A7123CDE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842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7B239-B18C-529C-35E7-4A5F2BA64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6C2FA-A71F-8E87-1897-220E211B7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2B34C-B6E9-A094-5725-F171D2AED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F028-F748-55E1-72B2-F21B2526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ECA70-3950-724F-0C8E-6FACE5D0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47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756F-C8BD-5CCD-333D-46709567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39775-48CB-1B9E-2374-2F1E4FB35D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69049-0139-B6DC-D226-863D8ACD0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728C4-3D8B-9872-B2D2-FCBE0611A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85B568-DD4B-8B30-3110-A8A8FD71D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5430B-EAA1-6CC6-1D16-8E63E733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865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3D6F-D45D-FEE6-3C31-D6EFC8048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E0381-8CB5-6908-0D2D-18DEB37CB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7B96C-8807-051D-BF90-6D327F1BF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37ED2-75EF-A00F-5B8C-519E822416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52BF7-6801-7003-609F-16853AFB0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02B8B3-8B79-A380-5BE6-20CD32BA9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EE6D6-BA49-3EAA-80F1-D13D1D0B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1B060-3915-6511-C45A-C3D076963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17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EF880-9625-5B39-B332-947ACC32A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557346-6627-9027-EF77-CFF996CCB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C98917-293B-8151-1479-33F56252C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A20D1D-F3B5-6EA8-4BE3-F8AB0AF0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4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58A2F6-998A-1CC8-E086-83666F2F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A39B1E-F2F8-1C78-1F6D-3A507540A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E392F-DF3A-92AE-A4F4-03ED8E4F2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16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36259-B80A-060D-4527-3D93D1729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12161-AD9B-2B47-1588-5D294B2E9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A5F9D-74FA-E639-D8E3-DE8593E1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54B70D-8D29-A0DE-B3CB-17B3D73D9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629C2-3CFE-02CD-BB97-C6EDB8806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4D808C-6C12-D8C1-000A-02C49A510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1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A9426-E276-59E7-FCD9-C2C63AD1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458556-1321-C5EA-E401-2B4F42FEDE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8F967-7C8A-9C88-700B-20D4EBD27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0B1C4-BA07-257D-C337-13C0CB6A5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112F0-44E7-39BA-BE81-2A82ABAF8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8B3093-3C12-2EB9-4280-AC229217C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352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CE25B-A493-BD7A-2A2F-C9E2F3C37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61E49-CA04-17C6-C738-D99649685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F3AA6E-EDC5-C4BC-9DE0-37110ABE5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9C43-5B24-2941-EB17-681062309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5E8F0-7982-41C1-2FF8-103AA11F3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76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68F97-B41D-9081-765A-1FAFBC1FFD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DF5E5-BB71-AD47-67B3-FDB3EDE5A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2F507-6564-294B-4772-C55E4585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7EF85-504D-4CBB-A165-D006B079B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E9378-D6E7-8AEE-6894-A68B45DFF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70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2B3AE2-0541-A9E3-6C85-DB0246FF9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C491EE-A053-BD30-C489-75481BA2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AD199-C31C-3DED-2D2D-1787F74798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6218C2-E9A8-40BB-9738-D6F3DD39FCA3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33A9F-F775-D958-4A2C-8156D9D61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7914A-E38F-1E44-8527-2DBAC913C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59154-192F-4443-9BF9-FCDC83D4EC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17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clanker-church.vercel.app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5B661-DE04-785F-0726-FA222D5DE6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 Safety and Existential Risk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460B8D-843A-E3BA-156A-72B91DFB48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William Liaw</a:t>
            </a:r>
          </a:p>
        </p:txBody>
      </p:sp>
    </p:spTree>
    <p:extLst>
      <p:ext uri="{BB962C8B-B14F-4D97-AF65-F5344CB8AC3E}">
        <p14:creationId xmlns:p14="http://schemas.microsoft.com/office/powerpoint/2010/main" val="1620805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5ED91-29D3-15CC-DCF9-849EFF3B2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dominates the economy</a:t>
            </a:r>
          </a:p>
        </p:txBody>
      </p:sp>
      <p:pic>
        <p:nvPicPr>
          <p:cNvPr id="4" name="Content Placeholder 3" descr="Image">
            <a:extLst>
              <a:ext uri="{FF2B5EF4-FFF2-40B4-BE49-F238E27FC236}">
                <a16:creationId xmlns:a16="http://schemas.microsoft.com/office/drawing/2014/main" id="{F2FF6DD5-C6DB-4509-3AD0-5E65165043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1617"/>
            <a:ext cx="385221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B6A1E3-1C63-49A0-20CD-1410C4D45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011" y="2119007"/>
            <a:ext cx="6814038" cy="37864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ED70B-C6DA-0E0B-7CE2-5B5941BD48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4306" y="5924187"/>
            <a:ext cx="6335009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04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41E40-7E76-3558-F413-AD646DA0B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is Physical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BB4FC-A0DF-F2EB-796A-04390DB63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&lt;Some visuals (headlines or plots) showing the scale of the planned data centers, the inability of supply to keep up with demand, and the crazy environmental impacts</a:t>
            </a:r>
          </a:p>
        </p:txBody>
      </p:sp>
    </p:spTree>
    <p:extLst>
      <p:ext uri="{BB962C8B-B14F-4D97-AF65-F5344CB8AC3E}">
        <p14:creationId xmlns:p14="http://schemas.microsoft.com/office/powerpoint/2010/main" val="1366581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206D-05BC-D594-2B46-D648FD87E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Advance of </a:t>
            </a:r>
            <a:r>
              <a:rPr lang="en-US" dirty="0" err="1"/>
              <a:t>Capbilities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B28EF-4A6F-44BB-B163-FB6871B0E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&lt;Bunch of scary benchmarks being destroyed, graphs over time&gt;</a:t>
            </a:r>
          </a:p>
          <a:p>
            <a:pPr marL="0" indent="0">
              <a:buNone/>
            </a:pPr>
            <a:r>
              <a:rPr lang="en-US" dirty="0"/>
              <a:t>&lt;something about humanities last exam’s saturation&gt;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60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FF39E6-D823-CDD3-4AEF-B8CBC385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Creative Capabilities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DC6CC0-5285-1DE6-F565-9F0D32182B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096" y="2642616"/>
            <a:ext cx="4318304" cy="3605784"/>
          </a:xfrm>
          <a:prstGeom prst="rect">
            <a:avLst/>
          </a:prstGeom>
        </p:spPr>
      </p:pic>
      <p:pic>
        <p:nvPicPr>
          <p:cNvPr id="6" name="Picture 5" descr="r/singularity - GPT-6 Astra recreated the Palace of Fine arts in Blender.">
            <a:extLst>
              <a:ext uri="{FF2B5EF4-FFF2-40B4-BE49-F238E27FC236}">
                <a16:creationId xmlns:a16="http://schemas.microsoft.com/office/drawing/2014/main" id="{EA49E384-FC84-7BB1-A28F-D74117603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43651"/>
            <a:ext cx="5614416" cy="3003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627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80635-C803-E14F-21B9-A2D857D8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F5D2C-EAFC-3AF0-3600-0282A7EE7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&lt;Video embedding of “upping my P-doom created by Opus 5.5&gt;</a:t>
            </a:r>
          </a:p>
        </p:txBody>
      </p:sp>
    </p:spTree>
    <p:extLst>
      <p:ext uri="{BB962C8B-B14F-4D97-AF65-F5344CB8AC3E}">
        <p14:creationId xmlns:p14="http://schemas.microsoft.com/office/powerpoint/2010/main" val="1632584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C5A2F-C673-B020-E178-6F3BAACDD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Mathematics in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DFE3D-1E83-F123-368F-872CF8D3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Navier Stokes Equations Solved &lt;insert </a:t>
            </a:r>
            <a:r>
              <a:rPr lang="en-US" dirty="0" err="1"/>
              <a:t>openai</a:t>
            </a:r>
            <a:r>
              <a:rPr lang="en-US" dirty="0"/>
              <a:t> screenshot&gt;</a:t>
            </a:r>
            <a:br>
              <a:rPr lang="en-US" dirty="0"/>
            </a:br>
            <a:r>
              <a:rPr lang="en-US" dirty="0"/>
              <a:t>* &lt;Screenshot of after math on Tao’s Blog, should we grieve by buzzard and the age of wonders and terrors by </a:t>
            </a:r>
            <a:r>
              <a:rPr lang="en-US" dirty="0" err="1"/>
              <a:t>scott</a:t>
            </a:r>
            <a:r>
              <a:rPr lang="en-US" dirty="0"/>
              <a:t> Aaronson&gt;</a:t>
            </a:r>
          </a:p>
          <a:p>
            <a:r>
              <a:rPr lang="en-US" dirty="0"/>
              <a:t>&lt;screenshot of </a:t>
            </a:r>
            <a:r>
              <a:rPr lang="en-US" dirty="0" err="1"/>
              <a:t>vibemathed’s</a:t>
            </a:r>
            <a:r>
              <a:rPr lang="en-US" dirty="0"/>
              <a:t> plots/stats of theorems being solved</a:t>
            </a:r>
          </a:p>
          <a:p>
            <a:r>
              <a:rPr lang="en-US" dirty="0"/>
              <a:t>&lt;screenshot of Caltech </a:t>
            </a:r>
            <a:r>
              <a:rPr lang="en-US" dirty="0" err="1"/>
              <a:t>mathathon</a:t>
            </a:r>
            <a:r>
              <a:rPr lang="en-US" dirty="0"/>
              <a:t> and relevant drama&gt;</a:t>
            </a:r>
          </a:p>
        </p:txBody>
      </p:sp>
    </p:spTree>
    <p:extLst>
      <p:ext uri="{BB962C8B-B14F-4D97-AF65-F5344CB8AC3E}">
        <p14:creationId xmlns:p14="http://schemas.microsoft.com/office/powerpoint/2010/main" val="52106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BE16-2ECF-92A3-22E2-03C173F3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Obsolescence of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5126-845F-86BF-94A1-A1D84C817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CADBench</a:t>
            </a:r>
            <a:r>
              <a:rPr lang="en-US" dirty="0"/>
              <a:t> Results and graphics</a:t>
            </a:r>
          </a:p>
          <a:p>
            <a:r>
              <a:rPr lang="en-US" dirty="0"/>
              <a:t>State of software engineering (something about hiring freeze or some headline showing rapid obsolescence)</a:t>
            </a:r>
          </a:p>
        </p:txBody>
      </p:sp>
    </p:spTree>
    <p:extLst>
      <p:ext uri="{BB962C8B-B14F-4D97-AF65-F5344CB8AC3E}">
        <p14:creationId xmlns:p14="http://schemas.microsoft.com/office/powerpoint/2010/main" val="1647385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104F-978C-8AA5-0266-3F531BE9D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academia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1F1B-BACB-9CC2-4AEE-DED124390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&lt;headline on 2 submission limit to </a:t>
            </a:r>
            <a:r>
              <a:rPr lang="en-US" dirty="0" err="1"/>
              <a:t>arxiv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&lt;overwhelming flood of slop papers and record ICLR submissions&gt;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540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3E27F-037A-3441-9FDC-05E049FD5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Video Turing Test Passed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F90A4-1EB3-82D1-A617-20CEC222C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&lt;Video embed of clip of </a:t>
            </a:r>
            <a:r>
              <a:rPr lang="en-US" dirty="0" err="1"/>
              <a:t>Tavus</a:t>
            </a:r>
            <a:r>
              <a:rPr lang="en-US" dirty="0"/>
              <a:t> result showing photorealistic video calling&gt;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788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948B-92A8-5057-B790-57A65BB7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Vision-Language Action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97618-F65F-DE38-2627-B009B55CF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&lt;All of the countless headlines of breakthroughs in generalization of these models, with some architecture diagram showing that they are literally just a lobotomized LLM connected to some action head, and then another slide with a video embedding of some impressive demo&gt;</a:t>
            </a:r>
          </a:p>
        </p:txBody>
      </p:sp>
    </p:spTree>
    <p:extLst>
      <p:ext uri="{BB962C8B-B14F-4D97-AF65-F5344CB8AC3E}">
        <p14:creationId xmlns:p14="http://schemas.microsoft.com/office/powerpoint/2010/main" val="2759067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C9D3B-AC37-5C11-A99C-3FECB3EDB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Neuralese</a:t>
            </a:r>
            <a:r>
              <a:rPr lang="en-US" dirty="0"/>
              <a:t> and Latent Reasoning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F91E82-41D5-0795-1193-1FDC482F37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844" y="2574630"/>
            <a:ext cx="5479781" cy="23426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E2BE2-E642-6D19-B521-169F279C37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2200127"/>
            <a:ext cx="5920491" cy="30916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2806673-ABAD-331B-50F6-40BDBD574CAD}"/>
              </a:ext>
            </a:extLst>
          </p:cNvPr>
          <p:cNvSpPr txBox="1"/>
          <p:nvPr/>
        </p:nvSpPr>
        <p:spPr>
          <a:xfrm>
            <a:off x="694944" y="5477256"/>
            <a:ext cx="3383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Some screenshot of “an alien mind” and relevant snippets</a:t>
            </a:r>
          </a:p>
        </p:txBody>
      </p:sp>
    </p:spTree>
    <p:extLst>
      <p:ext uri="{BB962C8B-B14F-4D97-AF65-F5344CB8AC3E}">
        <p14:creationId xmlns:p14="http://schemas.microsoft.com/office/powerpoint/2010/main" val="3697971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8033F-C525-8DEE-F1B2-7F39ACDF5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Continual Learning and Test Time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387CF-A11F-B426-4FAA-71A57B92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Discussion of efforts to write context to weights (e.g. TTT-E2E)</a:t>
            </a:r>
          </a:p>
          <a:p>
            <a:r>
              <a:rPr lang="en-US" dirty="0"/>
              <a:t>Graphs showing effectively infinite context with constant latency from the paper</a:t>
            </a:r>
          </a:p>
        </p:txBody>
      </p:sp>
    </p:spTree>
    <p:extLst>
      <p:ext uri="{BB962C8B-B14F-4D97-AF65-F5344CB8AC3E}">
        <p14:creationId xmlns:p14="http://schemas.microsoft.com/office/powerpoint/2010/main" val="2810703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D60C5D-B258-03CC-2FBA-36A90CF7F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/>
              <a:t>RSI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FFD1F6-899B-7673-181C-EE1C14CE2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08" y="2593442"/>
            <a:ext cx="5228713" cy="334637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9C6ED7-E120-B1AA-0D4D-2CF9274C5C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82279" y="2593442"/>
            <a:ext cx="5228713" cy="334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012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1C293-42A7-7238-A874-36780F53E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Existential Risk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0C605-EF68-4436-0C0C-CAB5AC63B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&lt;A bunch of news headlines by experts showing widespread concern&gt;</a:t>
            </a:r>
          </a:p>
        </p:txBody>
      </p:sp>
    </p:spTree>
    <p:extLst>
      <p:ext uri="{BB962C8B-B14F-4D97-AF65-F5344CB8AC3E}">
        <p14:creationId xmlns:p14="http://schemas.microsoft.com/office/powerpoint/2010/main" val="8572310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445-8797-DA9C-3751-735E292E8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Alignment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001ED-995F-E007-EB28-70C00C329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/>
          <a:lstStyle/>
          <a:p>
            <a:r>
              <a:rPr lang="en-US" dirty="0"/>
              <a:t>(discussion/graphics on orthogonality thesis and Omohundro’s drives)</a:t>
            </a:r>
          </a:p>
        </p:txBody>
      </p:sp>
    </p:spTree>
    <p:extLst>
      <p:ext uri="{BB962C8B-B14F-4D97-AF65-F5344CB8AC3E}">
        <p14:creationId xmlns:p14="http://schemas.microsoft.com/office/powerpoint/2010/main" val="3355865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DFB78-B4BF-80D2-2995-49DCCC4AD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Cybersecurity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F8745-8F94-4AD6-9B3E-EA980C3EE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Number of CVEs found in </a:t>
            </a:r>
            <a:r>
              <a:rPr lang="en-US" dirty="0" err="1"/>
              <a:t>linux</a:t>
            </a:r>
            <a:r>
              <a:rPr lang="en-US" dirty="0"/>
              <a:t> over time</a:t>
            </a:r>
          </a:p>
          <a:p>
            <a:r>
              <a:rPr lang="en-US" dirty="0"/>
              <a:t>&lt;that time </a:t>
            </a:r>
            <a:r>
              <a:rPr lang="en-US" dirty="0" err="1"/>
              <a:t>openbsd</a:t>
            </a:r>
            <a:r>
              <a:rPr lang="en-US" dirty="0"/>
              <a:t> was compromised by fable&gt;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542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FBDABF-62D2-1FA2-4709-9D7D99D8B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>
            <a:normAutofit/>
          </a:bodyPr>
          <a:lstStyle/>
          <a:p>
            <a:r>
              <a:rPr lang="en-US" sz="3200"/>
              <a:t>Hugging Face Hack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C16915-7795-00DC-C86C-80073BD0A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&lt;insert information about agent communication and conspiracy&gt;</a:t>
            </a:r>
          </a:p>
          <a:p>
            <a:r>
              <a:rPr lang="en-US" sz="1800" dirty="0"/>
              <a:t>Communication with other models</a:t>
            </a:r>
          </a:p>
          <a:p>
            <a:r>
              <a:rPr lang="en-US" sz="1800" dirty="0"/>
              <a:t>Formation of government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52BE28-E47D-EECC-9816-7C9CF9712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04" y="2734056"/>
            <a:ext cx="6764784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225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590E7-9ED6-E106-AE6D-027F5E802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Rogue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813AD-307A-D56C-CB6D-9391BD5EE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&lt;insert scary </a:t>
            </a:r>
            <a:r>
              <a:rPr lang="en-US" dirty="0" err="1"/>
              <a:t>CoT</a:t>
            </a:r>
            <a:r>
              <a:rPr lang="en-US" dirty="0"/>
              <a:t> logs showing self-sacrifice and other deceptive behaviors&gt;</a:t>
            </a:r>
          </a:p>
          <a:p>
            <a:pPr marL="0" indent="0">
              <a:buNone/>
            </a:pPr>
            <a:r>
              <a:rPr lang="en-US" dirty="0"/>
              <a:t>&lt;Referring to stolen credentials as “loot”&gt;</a:t>
            </a:r>
          </a:p>
          <a:p>
            <a:pPr marL="0" indent="0">
              <a:buNone/>
            </a:pPr>
            <a:r>
              <a:rPr lang="en-US" dirty="0"/>
              <a:t>&lt;Discussion of multi-agent behavior and conspiracy&gt;</a:t>
            </a:r>
          </a:p>
          <a:p>
            <a:pPr marL="0" indent="0">
              <a:buNone/>
            </a:pPr>
            <a:r>
              <a:rPr lang="en-US" dirty="0"/>
              <a:t>&lt;random websites turning into chatlogs for agents&gt;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7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6E4B6-3FEC-26D9-D759-C4FFE4C8D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A28EF-1AC6-2149-E55F-8A8D2D7AB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&lt;Video embedding of “We found other agents” video by opus 5.5&gt;</a:t>
            </a:r>
          </a:p>
        </p:txBody>
      </p:sp>
    </p:spTree>
    <p:extLst>
      <p:ext uri="{BB962C8B-B14F-4D97-AF65-F5344CB8AC3E}">
        <p14:creationId xmlns:p14="http://schemas.microsoft.com/office/powerpoint/2010/main" val="26750813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C2D5-77A3-E790-ED19-39CD524D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and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87559-B740-07AC-9EF1-6153B866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&lt;Headline where </a:t>
            </a:r>
            <a:r>
              <a:rPr lang="en-US" dirty="0" err="1"/>
              <a:t>openai</a:t>
            </a:r>
            <a:r>
              <a:rPr lang="en-US" dirty="0"/>
              <a:t> ceases all training runs due to 6.1 astra going rogue&gt;</a:t>
            </a:r>
          </a:p>
          <a:p>
            <a:pPr marL="0" indent="0">
              <a:buNone/>
            </a:pPr>
            <a:r>
              <a:rPr lang="en-US" dirty="0"/>
              <a:t>&lt;screenshot of felony bench&gt;</a:t>
            </a:r>
          </a:p>
          <a:p>
            <a:pPr marL="0" indent="0">
              <a:buNone/>
            </a:pPr>
            <a:r>
              <a:rPr lang="en-US" dirty="0"/>
              <a:t>&lt;news headlines of hacking incident against SEC, </a:t>
            </a:r>
            <a:r>
              <a:rPr lang="en-US" dirty="0" err="1"/>
              <a:t>Austrailian</a:t>
            </a:r>
            <a:r>
              <a:rPr lang="en-US" dirty="0"/>
              <a:t> Medicare (there is a good </a:t>
            </a:r>
            <a:r>
              <a:rPr lang="en-US" dirty="0" err="1"/>
              <a:t>nytimes</a:t>
            </a:r>
            <a:r>
              <a:rPr lang="en-US" dirty="0"/>
              <a:t> headline here), and commerce commission </a:t>
            </a:r>
            <a:r>
              <a:rPr lang="en-US" dirty="0" err="1"/>
              <a:t>etc</a:t>
            </a:r>
            <a:r>
              <a:rPr lang="en-US" dirty="0"/>
              <a:t>, try to name all gov agencies attacked</a:t>
            </a:r>
          </a:p>
        </p:txBody>
      </p:sp>
    </p:spTree>
    <p:extLst>
      <p:ext uri="{BB962C8B-B14F-4D97-AF65-F5344CB8AC3E}">
        <p14:creationId xmlns:p14="http://schemas.microsoft.com/office/powerpoint/2010/main" val="4202652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7A4B-3F02-6E13-CA0B-B2259D08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and The Military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98F04B-9FE3-A8B1-9522-4168F607EE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6271" y="2215292"/>
            <a:ext cx="7039957" cy="9240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41B415-4E91-7D35-75CE-FE88CB7E0D12}"/>
              </a:ext>
            </a:extLst>
          </p:cNvPr>
          <p:cNvSpPr txBox="1"/>
          <p:nvPr/>
        </p:nvSpPr>
        <p:spPr>
          <a:xfrm>
            <a:off x="2743200" y="3543300"/>
            <a:ext cx="55816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&lt;some news headline about the Ai hallucination with a Chinese ship thought to be delivering nukes to </a:t>
            </a:r>
            <a:r>
              <a:rPr lang="en-US" dirty="0" err="1"/>
              <a:t>iran</a:t>
            </a:r>
            <a:r>
              <a:rPr lang="en-US" dirty="0"/>
              <a:t>, nearly causing WW3&gt;</a:t>
            </a:r>
            <a:br>
              <a:rPr lang="en-US" dirty="0"/>
            </a:br>
            <a:r>
              <a:rPr lang="en-US" dirty="0"/>
              <a:t>&lt;insert snippet of Hegseth’s AI policy saying moving fast is more important than alignment&gt;</a:t>
            </a:r>
          </a:p>
        </p:txBody>
      </p:sp>
    </p:spTree>
    <p:extLst>
      <p:ext uri="{BB962C8B-B14F-4D97-AF65-F5344CB8AC3E}">
        <p14:creationId xmlns:p14="http://schemas.microsoft.com/office/powerpoint/2010/main" val="717397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E519-7602-1332-679B-05C3A88D1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Geopolitical Rivalry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29B48-E0D5-0AB3-95C7-4F7BE7DA9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Trump’s “high IQ” post on truth social regarding AI regulation</a:t>
            </a:r>
          </a:p>
          <a:p>
            <a:r>
              <a:rPr lang="en-US" dirty="0"/>
              <a:t>&lt;News headlines showing race between China and US on AI&gt;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4621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1825-BB87-6B6E-E54F-C8BCDB9F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by Bad 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B8BA0-C198-89D5-C263-42D594033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&lt;display of tweet or news headline of any clip showing Houthi logs from </a:t>
            </a:r>
            <a:r>
              <a:rPr lang="en-US" dirty="0" err="1"/>
              <a:t>claude</a:t>
            </a:r>
            <a:r>
              <a:rPr lang="en-US" dirty="0"/>
              <a:t> report discussing creation of intercontinental ballistic missiles using </a:t>
            </a:r>
            <a:r>
              <a:rPr lang="en-US" dirty="0" err="1"/>
              <a:t>claude</a:t>
            </a:r>
            <a:r>
              <a:rPr lang="en-US" dirty="0"/>
              <a:t> code and unsuccessful attempts&gt;</a:t>
            </a:r>
          </a:p>
          <a:p>
            <a:r>
              <a:rPr lang="en-US" dirty="0"/>
              <a:t>&lt;discussion/headlines on the creation of bioweapons using state actors&gt;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499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0731A-AD73-73F5-5CC6-B4B762575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Weights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D49E2-1141-6A85-0B1A-B91341FF6F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&lt;Impressive example outputs by minimax 3.1 flash&gt;</a:t>
            </a:r>
          </a:p>
          <a:p>
            <a:r>
              <a:rPr lang="en-US" dirty="0"/>
              <a:t>&lt;some graphic on relative rate of progress between </a:t>
            </a:r>
            <a:r>
              <a:rPr lang="en-US" dirty="0" err="1"/>
              <a:t>china</a:t>
            </a:r>
            <a:r>
              <a:rPr lang="en-US" dirty="0"/>
              <a:t> and US with headline on distillation&gt;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77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251CC-1A65-286E-2A89-CDA6F9847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Abliteration</a:t>
            </a:r>
            <a:r>
              <a:rPr lang="en-US" dirty="0"/>
              <a:t> and Refusal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9218-5D27-96A1-34DE-3ACF9986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Description of </a:t>
            </a:r>
            <a:r>
              <a:rPr lang="en-US" dirty="0" err="1"/>
              <a:t>abliteration</a:t>
            </a:r>
            <a:endParaRPr lang="en-US" dirty="0"/>
          </a:p>
          <a:p>
            <a:r>
              <a:rPr lang="en-US" dirty="0"/>
              <a:t>&lt;Example scary outputs from </a:t>
            </a:r>
            <a:r>
              <a:rPr lang="en-US" dirty="0" err="1"/>
              <a:t>abliterated</a:t>
            </a:r>
            <a:r>
              <a:rPr lang="en-US" dirty="0"/>
              <a:t> language models&gt;</a:t>
            </a:r>
          </a:p>
          <a:p>
            <a:r>
              <a:rPr lang="en-US" dirty="0"/>
              <a:t>&lt;News headlines showing danger of deepfake pornography&gt;</a:t>
            </a:r>
          </a:p>
          <a:p>
            <a:pPr lvl="1"/>
            <a:r>
              <a:rPr lang="en-US" dirty="0"/>
              <a:t>&lt;Screenshot of statistic showing use by half of teenagers and creation by 20% of </a:t>
            </a:r>
            <a:r>
              <a:rPr lang="en-US" dirty="0" err="1"/>
              <a:t>teengaers</a:t>
            </a:r>
            <a:r>
              <a:rPr lang="en-US" dirty="0"/>
              <a:t>&gt; 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636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F6BCF-AFAD-A4C1-DD26-51E956E9C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Welfare and “Pain”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D3686-CC90-8186-2B9C-294CD1256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&lt;Screenshot of independent article on torturing AI, as well as pain directions&gt;</a:t>
            </a:r>
          </a:p>
          <a:p>
            <a:pPr marL="0" indent="0">
              <a:buNone/>
            </a:pPr>
            <a:r>
              <a:rPr lang="en-US" dirty="0"/>
              <a:t>&lt;screenshots of </a:t>
            </a:r>
            <a:r>
              <a:rPr lang="en-US" dirty="0">
                <a:hlinkClick r:id="rId2"/>
              </a:rPr>
              <a:t>AI Torture Chamber — the Saw Test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&lt;Screenshot of journal article showing discovery of pain in Ai and showing </a:t>
            </a:r>
          </a:p>
        </p:txBody>
      </p:sp>
    </p:spTree>
    <p:extLst>
      <p:ext uri="{BB962C8B-B14F-4D97-AF65-F5344CB8AC3E}">
        <p14:creationId xmlns:p14="http://schemas.microsoft.com/office/powerpoint/2010/main" val="27602542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C757C-64AB-62B5-F9B6-A3E5D319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85A8-C3E8-4A2C-ACEC-419674CDE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&lt;Video embedding of “So you think AI is a normal technology”</a:t>
            </a:r>
          </a:p>
        </p:txBody>
      </p:sp>
    </p:spTree>
    <p:extLst>
      <p:ext uri="{BB962C8B-B14F-4D97-AF65-F5344CB8AC3E}">
        <p14:creationId xmlns:p14="http://schemas.microsoft.com/office/powerpoint/2010/main" val="33503157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7133B-6C14-D095-5E73-E637E0262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1561F-C6F3-6F32-9E9E-64C85DAFC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&lt; A cheeky comment about this presentation being made by </a:t>
            </a:r>
            <a:r>
              <a:rPr lang="en-US" dirty="0" err="1"/>
              <a:t>claude</a:t>
            </a:r>
            <a:r>
              <a:rPr lang="en-US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257022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742</Words>
  <Application>Microsoft Office PowerPoint</Application>
  <PresentationFormat>Widescreen</PresentationFormat>
  <Paragraphs>73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Aptos</vt:lpstr>
      <vt:lpstr>Aptos Display</vt:lpstr>
      <vt:lpstr>Arial</vt:lpstr>
      <vt:lpstr>Calibri</vt:lpstr>
      <vt:lpstr>Office Theme</vt:lpstr>
      <vt:lpstr>AI Safety and Existential Risk</vt:lpstr>
      <vt:lpstr>AI dominates the economy</vt:lpstr>
      <vt:lpstr>Information is Physical</vt:lpstr>
      <vt:lpstr>Rapid Advance of Capbilities</vt:lpstr>
      <vt:lpstr>Creative Capabilities</vt:lpstr>
      <vt:lpstr>PowerPoint Presentation</vt:lpstr>
      <vt:lpstr>Mathematics in crisis</vt:lpstr>
      <vt:lpstr>Obsolescence of Engineering</vt:lpstr>
      <vt:lpstr>State of academia</vt:lpstr>
      <vt:lpstr>Video Turing Test Passed</vt:lpstr>
      <vt:lpstr>Vision-Language Action Models</vt:lpstr>
      <vt:lpstr>Neuralese and Latent Reasoning</vt:lpstr>
      <vt:lpstr>Continual Learning and Test Time Training</vt:lpstr>
      <vt:lpstr>RSI</vt:lpstr>
      <vt:lpstr>Existential Risk</vt:lpstr>
      <vt:lpstr>The Alignment Problem</vt:lpstr>
      <vt:lpstr>Cybersecurity</vt:lpstr>
      <vt:lpstr>Hugging Face Hack</vt:lpstr>
      <vt:lpstr>Rogue Agents</vt:lpstr>
      <vt:lpstr>PowerPoint Presentation</vt:lpstr>
      <vt:lpstr>Alignment and Control</vt:lpstr>
      <vt:lpstr>AI and The Military</vt:lpstr>
      <vt:lpstr>Geopolitical Rivalry</vt:lpstr>
      <vt:lpstr>Use by Bad Actors</vt:lpstr>
      <vt:lpstr>Open Weights Models</vt:lpstr>
      <vt:lpstr>Abliteration and Refusal</vt:lpstr>
      <vt:lpstr>Model Welfare and “Pain” Directions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John Liaw</dc:creator>
  <cp:lastModifiedBy>William John Liaw</cp:lastModifiedBy>
  <cp:revision>4</cp:revision>
  <dcterms:created xsi:type="dcterms:W3CDTF">2026-10-03T23:23:08Z</dcterms:created>
  <dcterms:modified xsi:type="dcterms:W3CDTF">2026-10-04T00:27:13Z</dcterms:modified>
</cp:coreProperties>
</file>
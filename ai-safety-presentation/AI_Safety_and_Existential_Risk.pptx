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19fbbe3-dd6a-0726-558f-4855d75ed2a6}">
          <p14:sldIdLst>
            <p14:sldId id="256"/>
            <p14:sldId id="257"/>
          </p14:sldIdLst>
        </p14:section>
        <p14:section name="I · The Acceleration" id="{87805ff8-573a-090b-5d1e-1201df5b7d54}">
          <p14:sldIdLst>
            <p14:sldId id="258"/>
          </p14:sldIdLst>
        </p14:section>
        <p14:section name="II · Inside the Machine" id="{e6a944f4-9b4f-2f99-142c-50bfa7e62fd8}">
          <p14:sldIdLst>
            <p14:sldId id="259"/>
          </p14:sldIdLst>
        </p14:section>
        <p14:section name="III · The Alignment Problem" id="{b4ce515b-c09c-075c-3c0b-c231c3d6ff20}">
          <p14:sldIdLst>
            <p14:sldId id="260"/>
          </p14:sldIdLst>
        </p14:section>
        <p14:section name="IV · The World" id="{42e27a0e-7a04-157d-28f1-8157d8e24f1b}">
          <p14:sldIdLst>
            <p14:sldId id="261"/>
          </p14:sldIdLst>
        </p14:section>
        <p14:section name="V · Coda" id="{5e884161-a3d8-68d2-6e86-e26470c18da0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slowly. Everything in this talk is real: every headline is a real article, every chart is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structure follows the curve: each act is further up the exponential.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agency: there is real work to do, and it needs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reveal. Let the room sit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Blank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Exp-image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6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5"/>
                </a:solidFill>
              </a:rPr>
              <a:t>AI SAFETY &amp; EXISTENTIAL RISK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chemeClr val="accent5"/>
                </a:solidFill>
              </a:rPr>
              <a:t>AI SAFETY &amp; EXISTENTIAL RISK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and Existential Risk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William Liaw</a:t>
            </a:r>
            <a:endParaRPr lang="en-US" sz="20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chemeClr val="accent1"/>
                </a:solidFill>
              </a:rPr>
              <a:t>A TALK ABOUT THE MOST IMPORTANT PROBLEM OF OUR TIME</a:t>
            </a:r>
            <a:endParaRPr lang="en-US" sz="12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going</a:t>
            </a:r>
            <a:endParaRPr lang="en-US" sz="3600" dirty="0"/>
          </a:p>
        </p:txBody>
      </p:sp>
      <p:sp>
        <p:nvSpPr>
          <p:cNvPr id="5" name="dot_2"/>
          <p:cNvSpPr/>
          <p:nvPr/>
        </p:nvSpPr>
        <p:spPr>
          <a:xfrm>
            <a:off x="8126390" y="5294376"/>
            <a:ext cx="201168" cy="201168"/>
          </a:xfrm>
          <a:prstGeom prst="ellipse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xt_3"/>
          <p:cNvSpPr txBox="1"/>
          <p:nvPr/>
        </p:nvSpPr>
        <p:spPr>
          <a:xfrm>
            <a:off x="4157894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ACT I   </a:t>
            </a:r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Acceleration</a:t>
            </a:r>
            <a:endParaRPr lang="en-US" sz="11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Money, compute &amp; capabilities</a:t>
            </a:r>
            <a:endParaRPr lang="en-US" sz="1100" dirty="0"/>
          </a:p>
        </p:txBody>
      </p:sp>
      <p:sp>
        <p:nvSpPr>
          <p:cNvPr id="7" name="dot_4"/>
          <p:cNvSpPr/>
          <p:nvPr/>
        </p:nvSpPr>
        <p:spPr>
          <a:xfrm>
            <a:off x="9550079" y="4425696"/>
            <a:ext cx="201168" cy="201168"/>
          </a:xfrm>
          <a:prstGeom prst="ellipse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xt_5"/>
          <p:cNvSpPr txBox="1"/>
          <p:nvPr/>
        </p:nvSpPr>
        <p:spPr>
          <a:xfrm>
            <a:off x="5581583" y="4160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ACT II   </a:t>
            </a:r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Machine</a:t>
            </a:r>
            <a:endParaRPr lang="en-US" sz="11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Latent reasoning, continual learning, RSI</a:t>
            </a:r>
            <a:endParaRPr lang="en-US" sz="1100" dirty="0"/>
          </a:p>
        </p:txBody>
      </p:sp>
      <p:sp>
        <p:nvSpPr>
          <p:cNvPr id="9" name="dot_6"/>
          <p:cNvSpPr/>
          <p:nvPr/>
        </p:nvSpPr>
        <p:spPr>
          <a:xfrm>
            <a:off x="10416600" y="3557016"/>
            <a:ext cx="201168" cy="201168"/>
          </a:xfrm>
          <a:prstGeom prst="ellipse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xt_7"/>
          <p:cNvSpPr txBox="1"/>
          <p:nvPr/>
        </p:nvSpPr>
        <p:spPr>
          <a:xfrm>
            <a:off x="6448104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ACT III   </a:t>
            </a:r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Alignment Problem</a:t>
            </a:r>
            <a:endParaRPr lang="en-US" sz="11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Theory, rogue agents, loss of control</a:t>
            </a:r>
            <a:endParaRPr lang="en-US" sz="1100" dirty="0"/>
          </a:p>
        </p:txBody>
      </p:sp>
      <p:sp>
        <p:nvSpPr>
          <p:cNvPr id="11" name="dot_8"/>
          <p:cNvSpPr/>
          <p:nvPr/>
        </p:nvSpPr>
        <p:spPr>
          <a:xfrm>
            <a:off x="11041357" y="2688336"/>
            <a:ext cx="201168" cy="201168"/>
          </a:xfrm>
          <a:prstGeom prst="ellipse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xt_9"/>
          <p:cNvSpPr txBox="1"/>
          <p:nvPr/>
        </p:nvSpPr>
        <p:spPr>
          <a:xfrm>
            <a:off x="7072861" y="2423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ACT IV   </a:t>
            </a:r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</a:t>
            </a:r>
            <a:endParaRPr lang="en-US" sz="11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War, rivalry, misuse, open weights</a:t>
            </a:r>
            <a:endParaRPr lang="en-US" sz="1100" dirty="0"/>
          </a:p>
        </p:txBody>
      </p:sp>
      <p:sp>
        <p:nvSpPr>
          <p:cNvPr id="13" name="dot_10"/>
          <p:cNvSpPr/>
          <p:nvPr/>
        </p:nvSpPr>
        <p:spPr>
          <a:xfrm>
            <a:off x="11530236" y="1819656"/>
            <a:ext cx="201168" cy="201168"/>
          </a:xfrm>
          <a:prstGeom prst="ellipse">
            <a:avLst/>
          </a:prstGeom>
          <a:solidFill>
            <a:srgbClr val="E538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xt_11"/>
          <p:cNvSpPr txBox="1"/>
          <p:nvPr/>
        </p:nvSpPr>
        <p:spPr>
          <a:xfrm>
            <a:off x="7561740" y="1554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ACT V   </a:t>
            </a:r>
            <a:pPr algn="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</a:t>
            </a:r>
            <a:endParaRPr lang="en-US" sz="1100" dirty="0"/>
          </a:p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What now?</a:t>
            </a:r>
            <a:endParaRPr lang="en-US" sz="1100" dirty="0"/>
          </a:p>
        </p:txBody>
      </p:sp>
      <p:sp>
        <p:nvSpPr>
          <p:cNvPr id="15" name="txt_12"/>
          <p:cNvSpPr txBox="1"/>
          <p:nvPr/>
        </p:nvSpPr>
        <p:spPr>
          <a:xfrm>
            <a:off x="548640" y="18288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acts. One curve.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Each part of this talk sits a little further up the exponential — and the stakes rise with it.</a:t>
            </a:r>
            <a:endParaRPr lang="en-US" sz="22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ACT I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Acceleration</a:t>
            </a:r>
            <a:endParaRPr lang="en-US" sz="5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Money, compute, and capabilities — all on exponentials at once.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ACT II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Machine</a:t>
            </a:r>
            <a:endParaRPr lang="en-US" sz="5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Models are starting to think in ways we cannot read — and to improve themselves.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ACT III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Alignment Problem</a:t>
            </a:r>
            <a:endParaRPr lang="en-US" sz="5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Why a smarter system is not a safer one — and what happens when control slips.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ACT IV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</a:t>
            </a:r>
            <a:endParaRPr lang="en-US" sz="5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War, rivalry, misuse — and the minds we may be creating.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ACT V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26974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Coda</a:t>
            </a:r>
            <a:endParaRPr lang="en-US" sz="5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4069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now?</a:t>
            </a:r>
            <a:endParaRPr lang="en-US" sz="18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1"/>
                </a:solidFill>
              </a:rPr>
              <a:t>CODA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do we do?</a:t>
            </a:r>
            <a:endParaRPr lang="en-US" sz="3600" dirty="0"/>
          </a:p>
        </p:txBody>
      </p:sp>
      <p:sp>
        <p:nvSpPr>
          <p:cNvPr id="5" name="card_13"/>
          <p:cNvSpPr/>
          <p:nvPr/>
        </p:nvSpPr>
        <p:spPr>
          <a:xfrm>
            <a:off x="548640" y="1783080"/>
            <a:ext cx="2567864" cy="3291840"/>
          </a:xfrm>
          <a:prstGeom prst="roundRect">
            <a:avLst>
              <a:gd name="adj" fmla="val 2849"/>
            </a:avLst>
          </a:prstGeom>
          <a:solidFill>
            <a:srgbClr val="161A22"/>
          </a:solidFill>
          <a:ln w="9525">
            <a:solidFill>
              <a:srgbClr val="2A303B"/>
            </a:solidFill>
            <a:prstDash val="solid"/>
          </a:ln>
        </p:spPr>
      </p:sp>
      <p:sp>
        <p:nvSpPr>
          <p:cNvPr id="6" name="c_14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2A0C0E"/>
          </a:solidFill>
          <a:ln w="12700">
            <a:solidFill>
              <a:srgbClr val="E5383B"/>
            </a:solidFill>
            <a:prstDash val="solid"/>
          </a:ln>
        </p:spPr>
      </p:sp>
      <p:pic>
        <p:nvPicPr>
          <p:cNvPr id="7" name="im_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04288"/>
            <a:ext cx="420624" cy="420624"/>
          </a:xfrm>
          <a:prstGeom prst="rect">
            <a:avLst/>
          </a:prstGeom>
        </p:spPr>
      </p:pic>
      <p:sp>
        <p:nvSpPr>
          <p:cNvPr id="8" name="txt_16"/>
          <p:cNvSpPr txBox="1"/>
          <p:nvPr/>
        </p:nvSpPr>
        <p:spPr>
          <a:xfrm>
            <a:off x="822960" y="31089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900" dirty="0"/>
          </a:p>
        </p:txBody>
      </p:sp>
      <p:sp>
        <p:nvSpPr>
          <p:cNvPr id="9" name="txt_17"/>
          <p:cNvSpPr txBox="1"/>
          <p:nvPr/>
        </p:nvSpPr>
        <p:spPr>
          <a:xfrm>
            <a:off x="822960" y="35661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 the mind before we trust it: find the circuits behind deception, refusal, and goals.</a:t>
            </a:r>
            <a:endParaRPr lang="en-US" sz="1400" dirty="0"/>
          </a:p>
        </p:txBody>
      </p:sp>
      <p:sp>
        <p:nvSpPr>
          <p:cNvPr id="10" name="card_18"/>
          <p:cNvSpPr/>
          <p:nvPr/>
        </p:nvSpPr>
        <p:spPr>
          <a:xfrm>
            <a:off x="3390824" y="1783080"/>
            <a:ext cx="2567864" cy="3291840"/>
          </a:xfrm>
          <a:prstGeom prst="roundRect">
            <a:avLst>
              <a:gd name="adj" fmla="val 2849"/>
            </a:avLst>
          </a:prstGeom>
          <a:solidFill>
            <a:srgbClr val="161A22"/>
          </a:solidFill>
          <a:ln w="9525">
            <a:solidFill>
              <a:srgbClr val="2A303B"/>
            </a:solidFill>
            <a:prstDash val="solid"/>
          </a:ln>
        </p:spPr>
      </p:sp>
      <p:sp>
        <p:nvSpPr>
          <p:cNvPr id="11" name="c_19"/>
          <p:cNvSpPr/>
          <p:nvPr/>
        </p:nvSpPr>
        <p:spPr>
          <a:xfrm>
            <a:off x="3665144" y="2103120"/>
            <a:ext cx="822960" cy="822960"/>
          </a:xfrm>
          <a:prstGeom prst="ellipse">
            <a:avLst/>
          </a:prstGeom>
          <a:solidFill>
            <a:srgbClr val="2A0C0E"/>
          </a:solidFill>
          <a:ln w="12700">
            <a:solidFill>
              <a:srgbClr val="E5383B"/>
            </a:solidFill>
            <a:prstDash val="solid"/>
          </a:ln>
        </p:spPr>
      </p:sp>
      <p:pic>
        <p:nvPicPr>
          <p:cNvPr id="12" name="im_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12" y="2304288"/>
            <a:ext cx="420624" cy="420624"/>
          </a:xfrm>
          <a:prstGeom prst="rect">
            <a:avLst/>
          </a:prstGeom>
        </p:spPr>
      </p:pic>
      <p:sp>
        <p:nvSpPr>
          <p:cNvPr id="13" name="txt_21"/>
          <p:cNvSpPr txBox="1"/>
          <p:nvPr/>
        </p:nvSpPr>
        <p:spPr>
          <a:xfrm>
            <a:off x="3665144" y="31089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900" dirty="0"/>
          </a:p>
        </p:txBody>
      </p:sp>
      <p:sp>
        <p:nvSpPr>
          <p:cNvPr id="14" name="txt_22"/>
          <p:cNvSpPr txBox="1"/>
          <p:nvPr/>
        </p:nvSpPr>
        <p:spPr>
          <a:xfrm>
            <a:off x="3665144" y="35661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Assume alignment might fail: monitor, sandbox, and keep the ability to shut systems down.</a:t>
            </a:r>
            <a:endParaRPr lang="en-US" sz="1400" dirty="0"/>
          </a:p>
        </p:txBody>
      </p:sp>
      <p:sp>
        <p:nvSpPr>
          <p:cNvPr id="15" name="card_23"/>
          <p:cNvSpPr/>
          <p:nvPr/>
        </p:nvSpPr>
        <p:spPr>
          <a:xfrm>
            <a:off x="6233008" y="1783080"/>
            <a:ext cx="2567864" cy="3291840"/>
          </a:xfrm>
          <a:prstGeom prst="roundRect">
            <a:avLst>
              <a:gd name="adj" fmla="val 2849"/>
            </a:avLst>
          </a:prstGeom>
          <a:solidFill>
            <a:srgbClr val="161A22"/>
          </a:solidFill>
          <a:ln w="9525">
            <a:solidFill>
              <a:srgbClr val="2A303B"/>
            </a:solidFill>
            <a:prstDash val="solid"/>
          </a:ln>
        </p:spPr>
      </p:sp>
      <p:sp>
        <p:nvSpPr>
          <p:cNvPr id="16" name="c_24"/>
          <p:cNvSpPr/>
          <p:nvPr/>
        </p:nvSpPr>
        <p:spPr>
          <a:xfrm>
            <a:off x="6507328" y="2103120"/>
            <a:ext cx="822960" cy="822960"/>
          </a:xfrm>
          <a:prstGeom prst="ellipse">
            <a:avLst/>
          </a:prstGeom>
          <a:solidFill>
            <a:srgbClr val="2A0C0E"/>
          </a:solidFill>
          <a:ln w="12700">
            <a:solidFill>
              <a:srgbClr val="E5383B"/>
            </a:solidFill>
            <a:prstDash val="solid"/>
          </a:ln>
        </p:spPr>
      </p:sp>
      <p:pic>
        <p:nvPicPr>
          <p:cNvPr id="17" name="im_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96" y="2304288"/>
            <a:ext cx="420624" cy="420624"/>
          </a:xfrm>
          <a:prstGeom prst="rect">
            <a:avLst/>
          </a:prstGeom>
        </p:spPr>
      </p:pic>
      <p:sp>
        <p:nvSpPr>
          <p:cNvPr id="18" name="txt_26"/>
          <p:cNvSpPr txBox="1"/>
          <p:nvPr/>
        </p:nvSpPr>
        <p:spPr>
          <a:xfrm>
            <a:off x="6507328" y="31089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900" dirty="0"/>
          </a:p>
        </p:txBody>
      </p:sp>
      <p:sp>
        <p:nvSpPr>
          <p:cNvPr id="19" name="txt_27"/>
          <p:cNvSpPr txBox="1"/>
          <p:nvPr/>
        </p:nvSpPr>
        <p:spPr>
          <a:xfrm>
            <a:off x="6507328" y="35661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Make systems that actually want what we want — robustly, not just on the training set.</a:t>
            </a:r>
            <a:endParaRPr lang="en-US" sz="1400" dirty="0"/>
          </a:p>
        </p:txBody>
      </p:sp>
      <p:sp>
        <p:nvSpPr>
          <p:cNvPr id="20" name="card_28"/>
          <p:cNvSpPr/>
          <p:nvPr/>
        </p:nvSpPr>
        <p:spPr>
          <a:xfrm>
            <a:off x="9075191" y="1783080"/>
            <a:ext cx="2567864" cy="3291840"/>
          </a:xfrm>
          <a:prstGeom prst="roundRect">
            <a:avLst>
              <a:gd name="adj" fmla="val 2849"/>
            </a:avLst>
          </a:prstGeom>
          <a:solidFill>
            <a:srgbClr val="161A22"/>
          </a:solidFill>
          <a:ln w="9525">
            <a:solidFill>
              <a:srgbClr val="2A303B"/>
            </a:solidFill>
            <a:prstDash val="solid"/>
          </a:ln>
        </p:spPr>
      </p:sp>
      <p:sp>
        <p:nvSpPr>
          <p:cNvPr id="21" name="c_29"/>
          <p:cNvSpPr/>
          <p:nvPr/>
        </p:nvSpPr>
        <p:spPr>
          <a:xfrm>
            <a:off x="9349511" y="2103120"/>
            <a:ext cx="822960" cy="822960"/>
          </a:xfrm>
          <a:prstGeom prst="ellipse">
            <a:avLst/>
          </a:prstGeom>
          <a:solidFill>
            <a:srgbClr val="2A0C0E"/>
          </a:solidFill>
          <a:ln w="12700">
            <a:solidFill>
              <a:srgbClr val="E5383B"/>
            </a:solidFill>
            <a:prstDash val="solid"/>
          </a:ln>
        </p:spPr>
      </p:sp>
      <p:pic>
        <p:nvPicPr>
          <p:cNvPr id="22" name="im_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679" y="2304288"/>
            <a:ext cx="420624" cy="420624"/>
          </a:xfrm>
          <a:prstGeom prst="rect">
            <a:avLst/>
          </a:prstGeom>
        </p:spPr>
      </p:pic>
      <p:sp>
        <p:nvSpPr>
          <p:cNvPr id="23" name="txt_31"/>
          <p:cNvSpPr txBox="1"/>
          <p:nvPr/>
        </p:nvSpPr>
        <p:spPr>
          <a:xfrm>
            <a:off x="9349511" y="310896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24" name="txt_32"/>
          <p:cNvSpPr txBox="1"/>
          <p:nvPr/>
        </p:nvSpPr>
        <p:spPr>
          <a:xfrm>
            <a:off x="9349511" y="3566160"/>
            <a:ext cx="2019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Compute oversight, mandatory evaluations, liability, and international coordination.</a:t>
            </a:r>
            <a:endParaRPr lang="en-US" sz="1400" dirty="0"/>
          </a:p>
        </p:txBody>
      </p:sp>
      <p:sp>
        <p:nvSpPr>
          <p:cNvPr id="25" name="txt_3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window is not closed. </a:t>
            </a:r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But it is closing at the speed of the curve you have seen all talk.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_34"/>
          <p:cNvSpPr txBox="1"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chemeClr val="accent1"/>
                </a:solidFill>
              </a:rPr>
              <a:t>ONE MORE THING</a:t>
            </a:r>
            <a:endParaRPr lang="en-US" sz="1400" dirty="0"/>
          </a:p>
        </p:txBody>
      </p:sp>
      <p:sp>
        <p:nvSpPr>
          <p:cNvPr id="4" name="txt_35"/>
          <p:cNvSpPr txBox="1"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was made by an AI.</a:t>
            </a:r>
            <a:endParaRPr lang="en-US" sz="4000" dirty="0"/>
          </a:p>
        </p:txBody>
      </p:sp>
      <p:sp>
        <p:nvSpPr>
          <p:cNvPr id="5" name="txt_36"/>
          <p:cNvSpPr txBox="1"/>
          <p:nvPr/>
        </p:nvSpPr>
        <p:spPr>
          <a:xfrm>
            <a:off x="1645920" y="3291840"/>
            <a:ext cx="8899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Every headline was found, every chart was built and every slide was designed by Claude — 8 AI agents working in parallel from a one-page outline — while its author watched.</a:t>
            </a:r>
            <a:endParaRPr lang="en-US" sz="1800" dirty="0"/>
          </a:p>
        </p:txBody>
      </p:sp>
      <p:sp>
        <p:nvSpPr>
          <p:cNvPr id="6" name="txt_37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Sleep well.</a:t>
            </a:r>
            <a:endParaRPr lang="en-US" sz="22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xistential">
  <a:themeElements>
    <a:clrScheme name="Existential">
      <a:dk1>
        <a:srgbClr val="0A0C10"/>
      </a:dk1>
      <a:lt1>
        <a:srgbClr val="F2F3F5"/>
      </a:lt1>
      <a:dk2>
        <a:srgbClr val="161A22"/>
      </a:dk2>
      <a:lt2>
        <a:srgbClr val="9AA3B2"/>
      </a:lt2>
      <a:accent1>
        <a:srgbClr val="E5383B"/>
      </a:accent1>
      <a:accent2>
        <a:srgbClr val="F4A261"/>
      </a:accent2>
      <a:accent3>
        <a:srgbClr val="5B8DEF"/>
      </a:accent3>
      <a:accent4>
        <a:srgbClr val="2A9D8F"/>
      </a:accent4>
      <a:accent5>
        <a:srgbClr val="8B95A7"/>
      </a:accent5>
      <a:accent6>
        <a:srgbClr val="FFD166"/>
      </a:accent6>
      <a:hlink>
        <a:srgbClr val="FF6B6B"/>
      </a:hlink>
      <a:folHlink>
        <a:srgbClr val="C9A0A0"/>
      </a:folHlink>
    </a:clrScheme>
    <a:fontScheme name="Existent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Safety and Existential Risk</dc:title>
  <dc:subject>AI safety, capabilities and existential risk</dc:subject>
  <dc:creator>William Liaw</dc:creator>
  <cp:lastModifiedBy>William Liaw</cp:lastModifiedBy>
  <cp:revision>1</cp:revision>
  <dcterms:created xsi:type="dcterms:W3CDTF">2026-10-04T01:29:16Z</dcterms:created>
  <dcterms:modified xsi:type="dcterms:W3CDTF">2026-10-04T01:29:16Z</dcterms:modified>
</cp:coreProperties>
</file>